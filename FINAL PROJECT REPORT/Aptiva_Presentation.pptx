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6" d="100"/>
          <a:sy n="126" d="100"/>
        </p:scale>
        <p:origin x="-202" y="-2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Response Time (ms)</c:v>
                </c:pt>
              </c:strCache>
            </c:strRef>
          </c:tx>
          <c:spPr>
            <a:solidFill>
              <a:srgbClr val="00C2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Authentication
(Redis hit)</c:v>
                </c:pt>
                <c:pt idx="1">
                  <c:v>Course Retrieval
(cache hit)</c:v>
                </c:pt>
                <c:pt idx="2">
                  <c:v>Course Retrieval
(DB hit)</c:v>
                </c:pt>
                <c:pt idx="3">
                  <c:v>Quiz Submission
(online)</c:v>
                </c:pt>
                <c:pt idx="4">
                  <c:v>QoE Metric
Write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100</c:v>
                </c:pt>
                <c:pt idx="2">
                  <c:v>300</c:v>
                </c:pt>
                <c:pt idx="3">
                  <c:v>200</c:v>
                </c:pt>
                <c:pt idx="4">
                  <c:v>20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143749120"/>
        <c:axId val="143750656"/>
      </c:barChart>
      <c:catAx>
        <c:axId val="1437491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43750656"/>
        <c:crosses val="autoZero"/>
        <c:auto val="1"/>
        <c:lblAlgn val="ctr"/>
        <c:lblOffset val="100"/>
        <c:noMultiLvlLbl val="1"/>
      </c:catAx>
      <c:valAx>
        <c:axId val="143750656"/>
        <c:scaling>
          <c:orientation val="minMax"/>
          <c:max val="35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1437491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437909-830E-4999-BBFD-635E923C06D3}" type="datetimeFigureOut">
              <a:rPr lang="en-US" smtClean="0"/>
              <a:t>7/4/2026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69F3D8-8A4A-4806-B9A1-85DD0D568B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094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 title, team members, and course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ten main topics covered in this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root causes: connectivity, cost, and device limitations. Existing platforms ignore all three.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specific objectives, each traceable to a delivered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77 respondents across digital and physical channels. Findings justify every core design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MoSCoW prioritisation. Every Must-Have and Should-Have requirement was implemented and tested.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Four-tier containerised architecture. Flutter client — Node.js microservices — PostgreSQL+Redis — AWS/CDN/FCM.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diagrams cover every dimension: boundary, data flow, actors, interactions, structure, 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adaptive engine is the core technical contribution. Four operational modes, 2-second polling, seamless transitions.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Dark-first design system. Six colour tokens. Two typefaces. Six design principles — each mapped to a real constraint.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screens covering the complete user journey for students, instructors, and the system. All built in Flutter.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Five-element gamification system. 24-hour grace window for streaks acknowledges the electricity/connectivity reality.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Hybrid recommendation engine. Cold-start handled via content-based seeding. Redis 6-hour cache. Transparent AI labelling.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7 domain groups. UUID primary keys throughout. 4 streaming URLs on Lecture entity. Redis 4 caching roles.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Five-layer backend. Five specialised services. Gamification service uses WebSocket to trigger Flutter celebration overlay.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Must-Have and Should-Have requirements passed. Gamification and AI recommendations delivered as bonus. Auth &lt; 50ms.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real challenges — two environment setup, one data conflict, one ML cold-start. All resolved with documented solutions.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acknowledged limitations — all documented in the report with rationale. Five concrete future work items with specific technical approaches.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core contributions. Closing thesis: inclusivity and resilience as first-order requirements, not afterthoughts.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 slide. Open for questions. Summary stats reinforce scale of work delivered.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731520"/>
            <a:ext cx="2743200" cy="2743200"/>
          </a:xfrm>
          <a:prstGeom prst="ellipse">
            <a:avLst/>
          </a:prstGeom>
          <a:solidFill>
            <a:srgbClr val="00C2D4">
              <a:alpha val="12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97280"/>
            <a:ext cx="2011680" cy="2011680"/>
          </a:xfrm>
          <a:prstGeom prst="ellipse">
            <a:avLst/>
          </a:prstGeom>
          <a:solidFill>
            <a:srgbClr val="00C2D4">
              <a:alpha val="22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463040"/>
            <a:ext cx="1280160" cy="1280160"/>
          </a:xfrm>
          <a:prstGeom prst="ellipse">
            <a:avLst/>
          </a:prstGeom>
          <a:solidFill>
            <a:srgbClr val="00C2D4">
              <a:alpha val="45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8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" y="1417320"/>
            <a:ext cx="2834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Aptiva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182880" y="24231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that adapts to you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566160" y="73152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Implementation of an Adaptive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E-Learning Platform Based on Quality of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for Inclusive Online Education</a:t>
            </a:r>
            <a:endParaRPr lang="en-US" sz="1700" dirty="0"/>
          </a:p>
          <a:p>
            <a:pPr marL="0" indent="0" algn="l">
              <a:buNone/>
            </a:pPr>
            <a:r>
              <a:rPr lang="en-US" sz="17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Low-Resource Settings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566160" y="2286000"/>
            <a:ext cx="530352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242316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CEF 440 — Internet Programming and Mobile Programming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Buea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66160" y="310896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AFUH CHIKE CHEWAKONDI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PIGHIEBWOH NOKA GILDAS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TAKANG BRANDON EYONG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TAKU YVETTE WUTOH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TAMANTENG ABERLINE NGUEMUTANG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66160" y="44805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Instructor: Dr. Nkemeni Valery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2710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1901952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0299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— 77 Respondents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2660904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788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SRS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3419856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5478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 &amp; Architecture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4178808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3068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— 11 Screens in Flutter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846320" y="1143000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27101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394960" y="1271016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&amp; AI Recommendations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846320" y="1901952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983480" y="2029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029968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Backend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46320" y="2660904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2788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394960" y="27889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Performance Results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846320" y="3419856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35478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94960" y="3547872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Future Work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846320" y="4178808"/>
            <a:ext cx="4114800" cy="621792"/>
          </a:xfrm>
          <a:prstGeom prst="roundRect">
            <a:avLst>
              <a:gd name="adj" fmla="val 14706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83480" y="43068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394960" y="4306824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Set Out to Solve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1280160"/>
            <a:ext cx="548640" cy="54864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📶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Unstable Connectivity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331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 of surveyed users report poor internet 7–10/10 on frequency scale. Video freezes constantly.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37560" y="1143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66160" y="1280160"/>
            <a:ext cx="548640" cy="548640"/>
          </a:xfrm>
          <a:prstGeom prst="ellipse">
            <a:avLst/>
          </a:prstGeom>
          <a:solidFill>
            <a:srgbClr val="FBBF24">
              <a:alpha val="20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6616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💸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Data Costs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2331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rely on mobile data bundles. Streaming HD video exhausts daily budgets in minutes.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143000"/>
            <a:ext cx="2651760" cy="2011680"/>
          </a:xfrm>
          <a:prstGeom prst="roundRect">
            <a:avLst>
              <a:gd name="adj" fmla="val 454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46520" y="1280160"/>
            <a:ext cx="548640" cy="548640"/>
          </a:xfrm>
          <a:prstGeom prst="ellipse">
            <a:avLst/>
          </a:prstGeom>
          <a:solidFill>
            <a:srgbClr val="6366F1">
              <a:alpha val="2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55080" y="19202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Low-End Devices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2331720"/>
            <a:ext cx="2377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use basic or mid-range Android phones with 2GB RAM. Heavy apps crash or lag.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1A0520"/>
          </a:solidFill>
          <a:ln w="12700">
            <a:solidFill>
              <a:srgbClr val="1A0520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3401568"/>
            <a:ext cx="7772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Existing e-learning platforms (Coursera, Moodle, YouTube Learning) are designed for stable broadband.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They offer no automatic adaptation to poor network conditions — leaving millions of learners behind.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Aptiva — Aim and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E8F4F8"/>
          </a:solidFill>
          <a:ln w="12700">
            <a:solidFill>
              <a:srgbClr val="E8F4F8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704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an adaptive mobile e-learning platform that dynamically adjusts content delivery based on network conditions to optimise Quality of Experience in low-resource environments.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292608" cy="29260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41248" y="2057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field-based requirement gathering from 77 respondents across Cameroon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292608" cy="29260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587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41248" y="2542032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Formalise requirements into a verifiable Software Requirements Specification (SRS)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072384"/>
            <a:ext cx="292608" cy="29260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0723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3026664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the system with 6 UML diagrams: context, DFD, use case, sequence, class, deployment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292608" cy="29260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5570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" y="3511296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and implement 11 production-ready Flutter screens with a complete design system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292608" cy="29260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416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41248" y="39959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PostgreSQL + Redis + Node.js backend supporting adaptive delivery and offline-first ops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4526280"/>
            <a:ext cx="292608" cy="292608"/>
          </a:xfrm>
          <a:prstGeom prst="ellipse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5262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" y="44805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AI-powered course recommendations and a gamification layer for sustained engagement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Gathering — 77 Respondents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15568"/>
            <a:ext cx="16002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Survey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6576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questions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011680" y="1115568"/>
            <a:ext cx="16002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10312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(Google Forms)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10312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responses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49040" y="1115568"/>
            <a:ext cx="16002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(Physical)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84048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responses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0" y="1115568"/>
            <a:ext cx="16002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57784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Interviews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57784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depth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223760" y="1115568"/>
            <a:ext cx="1600200" cy="749808"/>
          </a:xfrm>
          <a:prstGeom prst="roundRect">
            <a:avLst>
              <a:gd name="adj" fmla="val 12195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0" y="11887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Engineering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315200" y="148132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Moodle, Coursera, YouTube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20299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connectivity (score 7–10)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2715768"/>
            <a:ext cx="3931920" cy="128016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715768"/>
            <a:ext cx="2123237" cy="128016"/>
          </a:xfrm>
          <a:prstGeom prst="rect">
            <a:avLst/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653589" y="26700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291693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 on mobile data bundles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3209544"/>
            <a:ext cx="3931920" cy="128016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209544"/>
            <a:ext cx="3342132" cy="128016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72484" y="3163824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basic/mid-range Android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3931920" cy="128016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03320"/>
            <a:ext cx="2555748" cy="12801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86100" y="365760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390448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offline access ESSENTIAL (10/10)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7200" y="4197096"/>
            <a:ext cx="3931920" cy="128016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97096"/>
            <a:ext cx="1965960" cy="128016"/>
          </a:xfrm>
          <a:prstGeom prst="rect">
            <a:avLst/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96312" y="4151376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57200" y="439826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internet severely impacts satisfaction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7200" y="4690872"/>
            <a:ext cx="3931920" cy="128016"/>
          </a:xfrm>
          <a:prstGeom prst="rect">
            <a:avLst/>
          </a:prstGeom>
          <a:solidFill>
            <a:srgbClr val="1C2434"/>
          </a:solidFill>
          <a:ln w="12700">
            <a:solidFill>
              <a:srgbClr val="1C243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57200" y="4690872"/>
            <a:ext cx="2359152" cy="128016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9504" y="464515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20640" y="2029968"/>
            <a:ext cx="3749040" cy="2788920"/>
          </a:xfrm>
          <a:prstGeom prst="roundRect">
            <a:avLst>
              <a:gd name="adj" fmla="val 327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5303520" y="2176272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Respondent Profile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303520" y="26060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498080" y="26060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90.9%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303520" y="293522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Two-SIM users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7498080" y="2935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32644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Moderate–Very slow internet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498080" y="326440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03520" y="359359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data plans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498080" y="359359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303520" y="3922776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Desired: Offline access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498080" y="392277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= score 10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303520" y="425196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feature: Live classes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498080" y="425196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demand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Prioritisation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C8F7DC"/>
          </a:solidFill>
          <a:ln w="12700">
            <a:solidFill>
              <a:srgbClr val="C8F7D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80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194560" y="128016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 (email + Google OAuth), Adaptive streaming (HD/SD/Audio-only/Offline), Real-time QoE monitoring, Offline caching &amp; sync, Course browsing &amp; enrolment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2057400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FEF9C3"/>
          </a:solidFill>
          <a:ln w="12700">
            <a:solidFill>
              <a:srgbClr val="FEF9C3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4884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194560" y="21488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quizzes with offline-first sync, Push notifications (24h, 1h, 10min before sessions), AI course recommendations, Role-based access control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926080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E0E7FF"/>
          </a:solidFill>
          <a:ln w="12700">
            <a:solidFill>
              <a:srgbClr val="E0E7FF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0080" y="30175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94560" y="301752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gamification system (XP, badges, streaks, leaderboards), QoE feedback screen, Instructor analytics dashboard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8229600" cy="758952"/>
          </a:xfrm>
          <a:prstGeom prst="roundRect">
            <a:avLst>
              <a:gd name="adj" fmla="val 9639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88620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94560" y="388620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WebRTC conferencing, Certificate issuance, Payment processing, Third-party LMS integration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  — Selected Thresholds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00C2D4">
              <a:alpha val="18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2s response (95th pct)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06040" y="5029200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39D98A">
              <a:alpha val="18000"/>
            </a:srgbClr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+ TLS 1.3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5029200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6366F1">
              <a:alpha val="18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8.0+, 2GB RAM min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5029200"/>
            <a:ext cx="1920240" cy="320040"/>
          </a:xfrm>
          <a:prstGeom prst="roundRect">
            <a:avLst>
              <a:gd name="adj" fmla="val 48571"/>
            </a:avLst>
          </a:prstGeom>
          <a:solidFill>
            <a:srgbClr val="FBBF24">
              <a:alpha val="18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50292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99.5% uptime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— Four-Tier Deployment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1920240" cy="438912"/>
          </a:xfrm>
          <a:prstGeom prst="roundRect">
            <a:avLst>
              <a:gd name="adj" fmla="val 16667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64208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7099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Android App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2258568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23042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 Media Engine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852928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89864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SQLite Cache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447288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7200" y="34930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Monitor Module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423160" y="1097280"/>
            <a:ext cx="2103120" cy="438912"/>
          </a:xfrm>
          <a:prstGeom prst="roundRect">
            <a:avLst>
              <a:gd name="adj" fmla="val 16667"/>
            </a:avLst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11556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23160" y="1664208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14600" y="170992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23160" y="2258568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14600" y="23042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Streaming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423160" y="2852928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14600" y="289864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423160" y="3447288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2514600" y="349300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Notification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23160" y="4041648"/>
            <a:ext cx="210312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514600" y="408736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+ ML Service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109728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11155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63440" y="1664208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54880" y="1709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Cluster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2258568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754880" y="2304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Shard Cache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2852928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754880" y="2898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Cloud Pointers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812280" y="1097280"/>
            <a:ext cx="2011680" cy="438912"/>
          </a:xfrm>
          <a:prstGeom prst="roundRect">
            <a:avLst>
              <a:gd name="adj" fmla="val 16667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111556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Services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812280" y="1664208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03720" y="170992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 (media)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812280" y="2258568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903720" y="2304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CDN (edge delivery)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812280" y="2852928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6903720" y="2898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FCM (push)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812280" y="3447288"/>
            <a:ext cx="2011680" cy="502920"/>
          </a:xfrm>
          <a:prstGeom prst="roundRect">
            <a:avLst>
              <a:gd name="adj" fmla="val 1818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03720" y="349300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2286000" y="2331720"/>
            <a:ext cx="1371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526280" y="2331720"/>
            <a:ext cx="1371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75120" y="2331720"/>
            <a:ext cx="137160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473659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inter-service communication uses REST over HTTPS. Database connections are pooled and SSL-encrypted.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 — Six UML Diagrams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Context Diagram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94360" y="16916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the system boundary. Five external entities: Students, Instructors, Admins, CDN/Network, Auth Services.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188720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Data Flow Diagrams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474720" y="16916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4-level hierarchy (L0–L3). L3 decomposes the Adaptive Delivery Engine into 5 sub-processes with 2s polling loop.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188720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132588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 Use Case Diagram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355080" y="169164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student use cases, 5 instructor use cases, 3 admin cases. Include/extend relationships modelled explicitly.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926080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063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↔️  Sequence Diagrams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94360" y="342900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flows: Authentication (JWT), Adaptive Streaming (ABR loop), Quiz Sync (offline→online pattern).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37560" y="2926080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063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 Class Diagram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474720" y="342900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domain classes across 3 domains. Aggregation over composition for Course-Lecture. 4 streaming URLs on Lecture.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17920" y="2926080"/>
            <a:ext cx="2697480" cy="1536192"/>
          </a:xfrm>
          <a:prstGeom prst="roundRect">
            <a:avLst>
              <a:gd name="adj" fmla="val 5952"/>
            </a:avLst>
          </a:prstGeom>
          <a:solidFill>
            <a:srgbClr val="F0F7FF"/>
          </a:solidFill>
          <a:ln w="12700">
            <a:solidFill>
              <a:srgbClr val="DBEAFE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55080" y="306324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Deployment Diagram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355080" y="3429000"/>
            <a:ext cx="242316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containers, Kubernetes orchestration, PostgreSQL primary-replica, Redis cluster, S3+CDN, FCM.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QoE Adaptive Engine — How It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1234440"/>
            <a:ext cx="594360" cy="594360"/>
          </a:xfrm>
          <a:prstGeom prst="ellipse">
            <a:avLst/>
          </a:prstGeom>
          <a:solidFill>
            <a:srgbClr val="00C2D4">
              <a:alpha val="25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51560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1920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Monitor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488" y="23042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bandwidth + latency every 2 seconds during active playback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331720" y="2011680"/>
            <a:ext cx="21031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42032" y="1143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27832" y="1234440"/>
            <a:ext cx="594360" cy="594360"/>
          </a:xfrm>
          <a:prstGeom prst="ellipse">
            <a:avLst/>
          </a:prstGeom>
          <a:solidFill>
            <a:srgbClr val="39D98A">
              <a:alpha val="25000"/>
            </a:srgbClr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27832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51760" y="1920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Classifier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651760" y="23042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QoS score; classifies into quality band (HD/SD/Low/Audio)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07992" y="2011680"/>
            <a:ext cx="21031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143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04104" y="1234440"/>
            <a:ext cx="594360" cy="59436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04104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28032" y="1920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Bitrate Negotiator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28032" y="23042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codec, bitrate, chunk size, and CDN edge node to fetch from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684264" y="2011680"/>
            <a:ext cx="210312" cy="36576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94576" y="1143000"/>
            <a:ext cx="1965960" cy="1828800"/>
          </a:xfrm>
          <a:prstGeom prst="roundRect">
            <a:avLst>
              <a:gd name="adj" fmla="val 5000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80376" y="1234440"/>
            <a:ext cx="594360" cy="594360"/>
          </a:xfrm>
          <a:prstGeom prst="ellipse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0376" y="12344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004304" y="1920240"/>
            <a:ext cx="1737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Switch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04304" y="230428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Seamlessly transitions stream quality with no user-visible buffer stall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321868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Thresholds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356616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3736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Bandwidth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108960" y="356616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480560" y="356616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858768"/>
            <a:ext cx="5486400" cy="256032"/>
          </a:xfrm>
          <a:prstGeom prst="roundRect">
            <a:avLst>
              <a:gd name="adj" fmla="val 35714"/>
            </a:avLst>
          </a:prstGeom>
          <a:solidFill>
            <a:srgbClr val="141E2E"/>
          </a:solidFill>
          <a:ln w="12700">
            <a:solidFill>
              <a:srgbClr val="141E2E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57200" y="387705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737360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 Mbps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108960" y="387705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100ms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480560" y="3877056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1080p HD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4151376"/>
            <a:ext cx="5486400" cy="256032"/>
          </a:xfrm>
          <a:prstGeom prst="roundRect">
            <a:avLst>
              <a:gd name="adj" fmla="val 3571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57200" y="416966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737360" y="4169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500K – 1M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108960" y="4169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100–200ms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480560" y="4169664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720p SD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57200" y="4443984"/>
            <a:ext cx="5486400" cy="256032"/>
          </a:xfrm>
          <a:prstGeom prst="roundRect">
            <a:avLst>
              <a:gd name="adj" fmla="val 35714"/>
            </a:avLst>
          </a:prstGeom>
          <a:solidFill>
            <a:srgbClr val="141E2E"/>
          </a:solidFill>
          <a:ln w="12700">
            <a:solidFill>
              <a:srgbClr val="141E2E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57200" y="44622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737360" y="44622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128–500K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3108960" y="446227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200–400ms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480560" y="446227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360p Low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57200" y="4736592"/>
            <a:ext cx="5486400" cy="256032"/>
          </a:xfrm>
          <a:prstGeom prst="roundRect">
            <a:avLst>
              <a:gd name="adj" fmla="val 35714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457200" y="475488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(&lt; 5s)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1737360" y="4754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128 Kbps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3108960" y="475488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400ms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480560" y="4754880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Only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217920" y="3218688"/>
            <a:ext cx="2651760" cy="1828800"/>
          </a:xfrm>
          <a:prstGeom prst="roundRect">
            <a:avLst>
              <a:gd name="adj" fmla="val 5000"/>
            </a:avLst>
          </a:prstGeom>
          <a:solidFill>
            <a:srgbClr val="1A0520"/>
          </a:solidFill>
          <a:ln w="12700">
            <a:solidFill>
              <a:srgbClr val="1A0520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355080" y="3337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Rule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355080" y="365760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bandwidth drops below 128 Kbps for 5 consecutive seconds → automatic switch to Audio-Only mode with visible banner notification.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Design System — Aptiva Visual Identity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7899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4447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4447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Navy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1645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#0A0E1A  Background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331720" y="1444752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88920" y="1444752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Cyan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88920" y="16459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#00C2D4  Primary Accent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103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1031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Indigo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14400" y="23042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#6366F1  Secondary / AI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1720" y="2103120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39D98A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88920" y="2103120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Lime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788920" y="23042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#39D98A  Success / QoE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7614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43F5E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761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Rose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14400" y="2962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#F43F5E  Alert / Audio-Only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331720" y="2761488"/>
            <a:ext cx="384048" cy="384048"/>
          </a:xfrm>
          <a:prstGeom prst="roundRect">
            <a:avLst>
              <a:gd name="adj" fmla="val 11905"/>
            </a:avLst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88920" y="2761488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88920" y="2962656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#FBBF24  Warning / Good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354787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Typography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Poppins Bold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2697480" y="39319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Headings, Display, Wordmark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297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 Regular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97480" y="42976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Body, Captions, Metadata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6634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Courier New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697480" y="46634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Network stats, QoE metrics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89120" y="1078992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389120" y="1499616"/>
            <a:ext cx="256032" cy="256032"/>
          </a:xfrm>
          <a:prstGeom prst="ellipse">
            <a:avLst/>
          </a:prstGeom>
          <a:solidFill>
            <a:srgbClr val="00C2D4">
              <a:alpha val="3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89120" y="14996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709160" y="146304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Dark-First Intelligence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709160" y="171907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Navy base optimised for OLED battery efficiency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89120" y="2084832"/>
            <a:ext cx="256032" cy="256032"/>
          </a:xfrm>
          <a:prstGeom prst="ellipse">
            <a:avLst/>
          </a:prstGeom>
          <a:solidFill>
            <a:srgbClr val="00C2D4">
              <a:alpha val="3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208483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709160" y="20482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Transparency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09160" y="23042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quality always visible — never hidden from learner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389120" y="2670048"/>
            <a:ext cx="256032" cy="256032"/>
          </a:xfrm>
          <a:prstGeom prst="ellipse">
            <a:avLst/>
          </a:prstGeom>
          <a:solidFill>
            <a:srgbClr val="00C2D4">
              <a:alpha val="3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389120" y="26700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09160" y="26334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Disclosure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709160" y="2889504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info first; reveal detail on demand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389120" y="3255264"/>
            <a:ext cx="256032" cy="256032"/>
          </a:xfrm>
          <a:prstGeom prst="ellipse">
            <a:avLst/>
          </a:prstGeom>
          <a:solidFill>
            <a:srgbClr val="00C2D4">
              <a:alpha val="3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32552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709160" y="321868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Communication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4709160" y="34747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communicates current mode: banners, badges, waveforms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389120" y="3840480"/>
            <a:ext cx="256032" cy="256032"/>
          </a:xfrm>
          <a:prstGeom prst="ellipse">
            <a:avLst/>
          </a:prstGeom>
          <a:solidFill>
            <a:srgbClr val="00C2D4">
              <a:alpha val="3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389120" y="38404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709160" y="3803904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by Default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4709160" y="4059936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2.1 AA · 48dp touch targets · 12sp min text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389120" y="4425696"/>
            <a:ext cx="256032" cy="256032"/>
          </a:xfrm>
          <a:prstGeom prst="ellipse">
            <a:avLst/>
          </a:prstGeom>
          <a:solidFill>
            <a:srgbClr val="00C2D4">
              <a:alpha val="3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389120" y="44256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709160" y="43891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Futuristic Restraint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4709160" y="4645152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 without overload — clean geometry, few accents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Implementation — 11 Production Screens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0C2D4">
              <a:alpha val="25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04672" y="12527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Splash Screen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1581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glow circles + diamond icon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78608" y="1143000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670048" y="12344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0C2D4">
              <a:alpha val="25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70048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17520" y="12527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670048" y="1581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 + Google OAuth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91456" y="1143000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82896" y="12344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00C2D4">
              <a:alpha val="25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30368" y="12527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882896" y="1581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toggle + validation feedback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7004304" y="1143000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95744" y="1234440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9D98A">
              <a:alpha val="25000"/>
            </a:srgbClr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1234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43216" y="12527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Dashboard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095744" y="1581912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+ AI Recommended + Course grid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2459736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25511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9D98A">
              <a:alpha val="25000"/>
            </a:srgbClr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4672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List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2898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+ filter chips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578608" y="2459736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670048" y="25511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39D98A">
              <a:alpha val="25000"/>
            </a:srgbClr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70048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017520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Player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2670048" y="2898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YouTube/CDN + QoE badge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791456" y="2459736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82896" y="25511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43F5E">
              <a:alpha val="2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230368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Audio-Only Mode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82896" y="2898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 waveform + network panel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004304" y="2459736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095744" y="2551176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95744" y="2551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443216" y="25694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Downloads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7095744" y="2898648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bar + download cards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65760" y="3776472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57200" y="386791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04672" y="38862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Screen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57200" y="42153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Lime correct / Rose wrong feedback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2578608" y="3776472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2670048" y="386791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70048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017520" y="38862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Dashboard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2670048" y="42153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+ attention alerts + courses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3685032" y="3776472"/>
            <a:ext cx="2011680" cy="1170432"/>
          </a:xfrm>
          <a:prstGeom prst="roundRect">
            <a:avLst>
              <a:gd name="adj" fmla="val 7813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3776472" y="3867912"/>
            <a:ext cx="292608" cy="292608"/>
          </a:xfrm>
          <a:prstGeom prst="roundRect">
            <a:avLst>
              <a:gd name="adj" fmla="val 15625"/>
            </a:avLst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776472" y="3867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4123944" y="388620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Feedback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776472" y="4215384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+ auto-tags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— Sustaining Learner Engagement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0FDF4"/>
          </a:solidFill>
          <a:ln w="12700">
            <a:solidFill>
              <a:srgbClr val="F0FDF4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Gamification?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low-resource environments, connectivity problems erode motivation. Gamification provides intrinsic reward loops that keep learners engaged even when technical difficulties interrupt sessions — turning frustration into perseverance.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93392"/>
            <a:ext cx="1536192" cy="2176272"/>
          </a:xfrm>
          <a:prstGeom prst="roundRect">
            <a:avLst>
              <a:gd name="adj" fmla="val 59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50976" y="2103120"/>
            <a:ext cx="548640" cy="548640"/>
          </a:xfrm>
          <a:prstGeom prst="ellipse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0976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7614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XP Points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090672"/>
            <a:ext cx="1353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Awarded for lesson completion (scaled by duration). Doubled for quiz scores ≥ 80%.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130552" y="1993392"/>
            <a:ext cx="1536192" cy="2176272"/>
          </a:xfrm>
          <a:prstGeom prst="roundRect">
            <a:avLst>
              <a:gd name="adj" fmla="val 59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24328" y="2103120"/>
            <a:ext cx="548640" cy="54864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4328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🏅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2221992" y="27614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221992" y="3090672"/>
            <a:ext cx="1353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Lesson · Quiz Master · 7-Day Streak · Course Finisher · Top of the Class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803904" y="1993392"/>
            <a:ext cx="1536192" cy="2176272"/>
          </a:xfrm>
          <a:prstGeom prst="roundRect">
            <a:avLst>
              <a:gd name="adj" fmla="val 59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297680" y="2103120"/>
            <a:ext cx="548640" cy="548640"/>
          </a:xfrm>
          <a:prstGeom prst="ellipse">
            <a:avLst/>
          </a:prstGeom>
          <a:solidFill>
            <a:srgbClr val="F43F5E">
              <a:alpha val="25000"/>
            </a:srgbClr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297680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🔥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895344" y="27614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95344" y="3090672"/>
            <a:ext cx="1353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 with 24-hour grace window, accounting for power &amp; connectivity interruptions.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77256" y="1993392"/>
            <a:ext cx="1536192" cy="2176272"/>
          </a:xfrm>
          <a:prstGeom prst="roundRect">
            <a:avLst>
              <a:gd name="adj" fmla="val 59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71032" y="2103120"/>
            <a:ext cx="548640" cy="548640"/>
          </a:xfrm>
          <a:prstGeom prst="ellipse">
            <a:avLst/>
          </a:prstGeom>
          <a:solidFill>
            <a:srgbClr val="00C2D4">
              <a:alpha val="25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1032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🏆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568696" y="27614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68696" y="3090672"/>
            <a:ext cx="1353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Course-scoped, not platform-wide. Encourages without excluding.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150608" y="1993392"/>
            <a:ext cx="1536192" cy="2176272"/>
          </a:xfrm>
          <a:prstGeom prst="roundRect">
            <a:avLst>
              <a:gd name="adj" fmla="val 59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644384" y="2103120"/>
            <a:ext cx="548640" cy="548640"/>
          </a:xfrm>
          <a:prstGeom prst="ellipse">
            <a:avLst/>
          </a:prstGeom>
          <a:solidFill>
            <a:srgbClr val="39D98A">
              <a:alpha val="25000"/>
            </a:srgbClr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44384" y="2103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🎯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242048" y="2761488"/>
            <a:ext cx="1353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 Ring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242048" y="3090672"/>
            <a:ext cx="135331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Circular XP ring on dashboard fills toward next level threshold — always visible.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370832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2700">
            <a:solidFill>
              <a:srgbClr val="EFF6FF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446227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40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"Gamification shows statistically significant positive effects on learner motivation and task completion in educational contexts."  — Hamari, Koivisto &amp; Sarsa (2014), 24-study meta-analysis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Course Recommendation Engine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3931920" cy="3246120"/>
          </a:xfrm>
          <a:prstGeom prst="roundRect">
            <a:avLst>
              <a:gd name="adj" fmla="val 281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6187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58368" y="1773936"/>
            <a:ext cx="256032" cy="25603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773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75564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Content-Based (New Users)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9933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role + institutional affiliation at registration to seed first recommendations.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" y="2450592"/>
            <a:ext cx="256032" cy="25603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243230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Collaborative Filtering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670048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users with overlapping enrollment &amp; completion histories; weights by completion rate.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3127248"/>
            <a:ext cx="256032" cy="25603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" y="31272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1089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Ranking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3346704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both signals. Results ranked. Top 5 cached per learner in Redis (6-hour TTL).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803904"/>
            <a:ext cx="256032" cy="256032"/>
          </a:xfrm>
          <a:prstGeom prst="ellipse">
            <a:avLst/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" y="380390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785616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Event-Driven Refresh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40233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refreshed automatically when new enrollment or completion event fires.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0" y="1143000"/>
            <a:ext cx="4297680" cy="3246120"/>
          </a:xfrm>
          <a:prstGeom prst="roundRect">
            <a:avLst>
              <a:gd name="adj" fmla="val 281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0" y="12618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Recommendations Surface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754880" y="1737360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C243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19472" y="182880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Dashboard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9472" y="2103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high-confidence course card with Indigo 'Aptiva AI' badge, title, instructor, and one-tap enrol button.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54880" y="2798064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C243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19472" y="2889504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Detail Screen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9472" y="3163824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'Related Courses' section — 3 recommendations from content-based component based on same category / difficulty.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754880" y="3858768"/>
            <a:ext cx="3931920" cy="868680"/>
          </a:xfrm>
          <a:prstGeom prst="roundRect">
            <a:avLst>
              <a:gd name="adj" fmla="val 8421"/>
            </a:avLst>
          </a:prstGeom>
          <a:solidFill>
            <a:srgbClr val="1C2434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19472" y="395020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Feedback Screen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9472" y="422452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 note: 'Your feedback trains the Aptiva AI engine' — makes learner contribution explicit and valued.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PostgreSQL + Redis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20116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89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Domain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16459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(UUID) · email · password_hash · full_name · role (ENUM) · device_info (JSONB)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651760" y="1234440"/>
            <a:ext cx="20116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51760" y="123444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1289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&amp; Lecture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61488" y="16459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course_id · instructor_id · title · hd_url · sd_url · low_url · audio_url · duration_seconds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1234440"/>
            <a:ext cx="20116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23444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56048" y="1289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 &amp; Progress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956048" y="16459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enrollment_id · student_id · course_id · progress_pct (0–100) · enrolled_at · completed_at · last_accessed_at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040880" y="1234440"/>
            <a:ext cx="20116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040880" y="123444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50608" y="128930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Domain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50608" y="16459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→ quiz_question → quiz_option → quiz_attempt (offline_attempt BOOL, synced_at TIMESTAMPTZ)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20116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69748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6928" y="275234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&amp; Network Logs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66928" y="31089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network_log: bandwidth, latency every 2s per session · qoe_metric: objective + subjective score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651760" y="2697480"/>
            <a:ext cx="201168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651760" y="2697480"/>
            <a:ext cx="2011680" cy="329184"/>
          </a:xfrm>
          <a:prstGeom prst="roundRect">
            <a:avLst>
              <a:gd name="adj" fmla="val 27778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61488" y="2752344"/>
            <a:ext cx="1792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Downloads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61488" y="31089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lecture_id · student_id · quality_tier · file_path · expires_at · download_status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749040" y="2697480"/>
            <a:ext cx="2194560" cy="1298448"/>
          </a:xfrm>
          <a:prstGeom prst="roundRect">
            <a:avLst>
              <a:gd name="adj" fmla="val 704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49040" y="2697480"/>
            <a:ext cx="2194560" cy="329184"/>
          </a:xfrm>
          <a:prstGeom prst="roundRect">
            <a:avLst>
              <a:gd name="adj" fmla="val 27778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58768" y="2752344"/>
            <a:ext cx="1975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858768" y="3108960"/>
            <a:ext cx="19751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notification_id · recipient_id · channel (push/SMS/in-app) · delivered_at · read_at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57200" y="4462272"/>
            <a:ext cx="8229600" cy="512064"/>
          </a:xfrm>
          <a:prstGeom prst="roundRect">
            <a:avLst>
              <a:gd name="adj" fmla="val 1428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4572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Caching Roles: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331720" y="457200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JWT (24h TTL)  ·  Course metadata (15min TTL)  ·  Offline quiz sync queue  ·  QoE score per session (2s update)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Architecture — Node.js + Express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16152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83080" y="12344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endpoints and HTTP method definitions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86000" y="1709928"/>
            <a:ext cx="3657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19656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892808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83080" y="1911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verification · RBAC checks · Input validation · Error normalisation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286000" y="2386584"/>
            <a:ext cx="3657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496312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9464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783080" y="25877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Request-response logic; coordinates services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286000" y="3063240"/>
            <a:ext cx="3657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172968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3246120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783080" y="326440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logic: Auth, Adaptive Engine, Gamification, Recommendation, Sync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286000" y="3739896"/>
            <a:ext cx="36576" cy="109728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49624"/>
            <a:ext cx="4023360" cy="566928"/>
          </a:xfrm>
          <a:prstGeom prst="roundRect">
            <a:avLst>
              <a:gd name="adj" fmla="val 12903"/>
            </a:avLst>
          </a:prstGeom>
          <a:solidFill>
            <a:srgbClr val="111827"/>
          </a:solidFill>
          <a:ln w="12700">
            <a:solidFill>
              <a:srgbClr val="F43F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922776"/>
            <a:ext cx="1097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(ORM)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783080" y="394106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Sequelize models · Migrations · Transactions · Associations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111556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Service Modules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846320" y="1554480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16276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Service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18288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 verify + JWT RS256 sign. Redis session. Google OAuth flow.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212848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0" y="22860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Engine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29200" y="24871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QoS score computation. Bitrate negotiation. CDN redirect on threshold breach.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2871216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2944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Service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145536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Listens for completion events. Awards XP, checks badge criteria, updates leaderboard, emits WebSocket trigger.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3529584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0" y="360273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Service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3803904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vector similarity (content) + enrollment overlap (collaborative). Redis 6h cache per user.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46320" y="4187952"/>
            <a:ext cx="3931920" cy="548640"/>
          </a:xfrm>
          <a:prstGeom prst="roundRect">
            <a:avLst>
              <a:gd name="adj" fmla="val 166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029200" y="42611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 Worker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29200" y="4462272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Flushes Redis offline quiz queue to PostgreSQL every 30s. Last-write-wins on conflict.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Performance Validation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70432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70432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66928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Jest (Node.js) + Flutter Test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" y="18105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80% line coverage. Auth, QoE scoring, XP/badge logic all tested in isolation with mocks.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170432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170432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47288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Testing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47288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Docker Compose stack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47288" y="18105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flow end-to-end · Offline quiz sync cycle · Adaptive mode transitions · Recommendation refresh trigger.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170432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170432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27648" y="122529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/ Acceptance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7648" y="157276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3 Physical Android Devices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27648" y="1810512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 Galaxy A03 (2GB RAM) · Tecno Camon 19 (4GB) · Xiaomi Redmi Note 10 (4GB). Network throttled to 2G/3G/poor-WiFi.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27889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Benchmarks</a:t>
            </a:r>
            <a:endParaRPr lang="en-US" sz="13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457200" y="3154680"/>
          <a:ext cx="530352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1" name="Text 18"/>
          <p:cNvSpPr/>
          <p:nvPr/>
        </p:nvSpPr>
        <p:spPr>
          <a:xfrm>
            <a:off x="6035040" y="27889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Test Results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035040" y="31821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requirements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183880" y="31821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6035040" y="350215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requirements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8183880" y="35021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035040" y="3822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 (Gamification)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8183880" y="382219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6035040" y="4142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 (AI Rec.)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183880" y="414223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6035040" y="44622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adaptive switch time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8183880" y="446227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seconds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035040" y="478231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quiz sync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8183880" y="47823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10 seconds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Encountered &amp; How We Resolved Them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307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43000" y="1234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Build — NDK Corruption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43000" y="152704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Incomplete NDK download produced missing source.properties file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34840" y="1280160"/>
            <a:ext cx="18288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23444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Deleted corrupted NDK folder at C:\AppData\Local\Android\sdk\ndk\28.x; re-downloaded via SDK Manager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93976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58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🌐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43000" y="21854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Gradle Distribution URL Blocked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478024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University network firewall blocked outbound connections to github.com (Gradle source)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2231136"/>
            <a:ext cx="18288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8541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Replaced distributionUrl in gradle-wrapper.properties to services.gradle.org (canonical CDN)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4495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⚖️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43000" y="31363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Quiz Sync Conflict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43000" y="34290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Multiple offline sessions produced conflicting quiz attempt records for the same question set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34840" y="3182112"/>
            <a:ext cx="18288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13639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Implemented last-write-wins strategy with server-side timestamp arbitration in the sync worker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943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143000" y="4087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3F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Cold-Start on New Users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43000" y="4379976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Cause: Collaborative filtering had no signal when a user had zero enrollment history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434840" y="4133088"/>
            <a:ext cx="18288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40873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Resolution: Seeded content-based filtering from registration role and institutional affiliation as cold-start fallback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0A0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 &amp; Future Work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A0E1A"/>
          </a:solidFill>
          <a:ln w="12700">
            <a:solidFill>
              <a:srgbClr val="0A0E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430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55064"/>
            <a:ext cx="201168" cy="201168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6002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WebRTC video conferencing (architecture provisioned; scoped for next release)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185416"/>
            <a:ext cx="201168" cy="201168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76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49808" y="2130552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accuracy limited by small initial dataset — improves with user growth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715768"/>
            <a:ext cx="201168" cy="201168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066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49808" y="266090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issuance not yet implemented (completion tracking infrastructure in place)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01168" cy="201168"/>
          </a:xfrm>
          <a:prstGeom prst="ellipse">
            <a:avLst/>
          </a:prstGeom>
          <a:solidFill>
            <a:srgbClr val="DC2626">
              <a:alpha val="20000"/>
            </a:srgbClr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2369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49808" y="3191256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deployment provisioned but not published — requires Apple developer account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1143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1572768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28032" y="16459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Class Module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1856232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WebRTC via Agora.io — audio fallback for participants below 512 Kbps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185416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828032" y="22585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System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2468880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generation on completion trigger; QR-code verification endpoint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798064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828032" y="287121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Gamification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28032" y="3081528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Guild-based challenges, peer mentorship badges, cross-course leaderboard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410712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28032" y="34838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Computing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3694176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ML inference at CDN edge nodes for low-latency recommendations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4023360"/>
            <a:ext cx="4114800" cy="502920"/>
          </a:xfrm>
          <a:prstGeom prst="roundRect">
            <a:avLst>
              <a:gd name="adj" fmla="val 14545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28032" y="40965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QoE Study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28032" y="4306824"/>
            <a:ext cx="3749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Full-semester research study measuring completion rates and satisfaction impact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— What Aptiva Demonstrates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987552"/>
            <a:ext cx="8229600" cy="27432"/>
          </a:xfrm>
          <a:prstGeom prst="rect">
            <a:avLst/>
          </a:prstGeom>
          <a:solidFill>
            <a:srgbClr val="00C2D4"/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041648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21792" y="1307592"/>
            <a:ext cx="640080" cy="640080"/>
          </a:xfrm>
          <a:prstGeom prst="ellipse">
            <a:avLst/>
          </a:prstGeom>
          <a:solidFill>
            <a:srgbClr val="00C2D4">
              <a:alpha val="25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Intelligence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64592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QoE engine with 2-second polling, 4 operational modes, and seamless transparent transitions — no learning interruption.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73168" y="1143000"/>
            <a:ext cx="4041648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07592"/>
            <a:ext cx="640080" cy="640080"/>
          </a:xfrm>
          <a:prstGeom prst="ellipse">
            <a:avLst/>
          </a:prstGeom>
          <a:solidFill>
            <a:srgbClr val="39D98A">
              <a:alpha val="25000"/>
            </a:srgbClr>
          </a:solidFill>
          <a:ln w="12700">
            <a:solidFill>
              <a:srgbClr val="39D9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075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87568" y="132588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9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Offline-First Resilience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87568" y="1645920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72+ hours of learning continuity without any network dependency. Offline quiz sync with ACID-compliant reconciliation on reconnection.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15768"/>
            <a:ext cx="4041648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880360"/>
            <a:ext cx="640080" cy="640080"/>
          </a:xfrm>
          <a:prstGeom prst="ellipse">
            <a:avLst/>
          </a:prstGeom>
          <a:solidFill>
            <a:srgbClr val="6366F1">
              <a:alpha val="2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🌍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371600" y="28986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71600" y="3218688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Android 8.0 with 2GB RAM. Dark-first battery efficiency. WCAG 2.1 AA accessibility. French-English bilingual branding.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73168" y="2715768"/>
            <a:ext cx="4041648" cy="1417320"/>
          </a:xfrm>
          <a:prstGeom prst="roundRect">
            <a:avLst>
              <a:gd name="adj" fmla="val 6452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880360"/>
            <a:ext cx="640080" cy="640080"/>
          </a:xfrm>
          <a:prstGeom prst="ellipse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87568" y="28986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Engagement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687568" y="3218688"/>
            <a:ext cx="30175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recommendations that improve with use. Gamification with empathy — streak grace windows, course-scoped leaderboards.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70248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091018"/>
          </a:solidFill>
          <a:ln w="12700">
            <a:solidFill>
              <a:srgbClr val="091018"/>
            </a:solidFill>
            <a:prstDash val="solid"/>
          </a:ln>
          <a:effectLst>
            <a:outerShdw blurRad="101600" dist="254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85800" y="437083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Aptiva proves that when inclusivity and resilience are treated as first-order engineering requirements, digital education can genuinely reach learners who have historically been left behind.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640080"/>
            <a:ext cx="3108960" cy="3108960"/>
          </a:xfrm>
          <a:prstGeom prst="ellipse">
            <a:avLst/>
          </a:prstGeom>
          <a:solidFill>
            <a:srgbClr val="00C2D4">
              <a:alpha val="1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097280"/>
            <a:ext cx="2194560" cy="2194560"/>
          </a:xfrm>
          <a:prstGeom prst="ellipse">
            <a:avLst/>
          </a:prstGeom>
          <a:solidFill>
            <a:srgbClr val="00C2D4">
              <a:alpha val="2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80160" y="1554480"/>
            <a:ext cx="1280160" cy="1280160"/>
          </a:xfrm>
          <a:prstGeom prst="ellipse">
            <a:avLst/>
          </a:prstGeom>
          <a:solidFill>
            <a:srgbClr val="00C2D4">
              <a:alpha val="40000"/>
            </a:srgbClr>
          </a:solidFill>
          <a:ln w="12700">
            <a:solidFill>
              <a:srgbClr val="00C2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9144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8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APTIVA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82880" y="137160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Aptiva</a:t>
            </a:r>
            <a:endParaRPr lang="en-US" sz="5600" dirty="0"/>
          </a:p>
        </p:txBody>
      </p:sp>
      <p:sp>
        <p:nvSpPr>
          <p:cNvPr id="8" name="Text 6"/>
          <p:cNvSpPr/>
          <p:nvPr/>
        </p:nvSpPr>
        <p:spPr>
          <a:xfrm>
            <a:off x="182880" y="2514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that adapts to you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063240"/>
            <a:ext cx="3108960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" y="320040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22  ·  CEF 440  ·  2024/2025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0" y="914400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411480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114800" y="2240280"/>
            <a:ext cx="4754880" cy="274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4114800" y="2990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Respondents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6072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5760720" y="2990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Flutter Screens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406640" y="242316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406640" y="299008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Diagrams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0" y="3474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411480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QoE Adaptive Modes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60720" y="3474720"/>
            <a:ext cx="1463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C2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5760720" y="4041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 Elements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2663</Words>
  <Application>Microsoft Office PowerPoint</Application>
  <PresentationFormat>On-screen Show (16:9)</PresentationFormat>
  <Paragraphs>468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Aptiva — Adaptive E-Learning Platform</dc:title>
  <dc:subject>PptxGenJS Presentation</dc:subject>
  <dc:creator>Group 22 — CEF 440</dc:creator>
  <cp:lastModifiedBy>DELL</cp:lastModifiedBy>
  <cp:revision>2</cp:revision>
  <dcterms:created xsi:type="dcterms:W3CDTF">2026-07-04T01:05:54Z</dcterms:created>
  <dcterms:modified xsi:type="dcterms:W3CDTF">2026-07-04T01:16:34Z</dcterms:modified>
</cp:coreProperties>
</file>